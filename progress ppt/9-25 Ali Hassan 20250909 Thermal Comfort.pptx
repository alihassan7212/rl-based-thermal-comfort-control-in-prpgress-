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66" r:id="rId3"/>
    <p:sldId id="257" r:id="rId4"/>
    <p:sldId id="258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67" r:id="rId14"/>
    <p:sldId id="259" r:id="rId15"/>
    <p:sldId id="269" r:id="rId16"/>
    <p:sldId id="276" r:id="rId17"/>
    <p:sldId id="277" r:id="rId18"/>
    <p:sldId id="260" r:id="rId19"/>
    <p:sldId id="268" r:id="rId20"/>
    <p:sldId id="270" r:id="rId21"/>
    <p:sldId id="271" r:id="rId22"/>
    <p:sldId id="272" r:id="rId23"/>
    <p:sldId id="273" r:id="rId24"/>
    <p:sldId id="262" r:id="rId25"/>
    <p:sldId id="264" r:id="rId26"/>
    <p:sldId id="274" r:id="rId27"/>
    <p:sldId id="275" r:id="rId28"/>
    <p:sldId id="265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gVw+YLc9/V8GPnkb9fin+7PizW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D30DA220-F84E-4832-FC5B-D75B8F41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>
            <a:extLst>
              <a:ext uri="{FF2B5EF4-FFF2-40B4-BE49-F238E27FC236}">
                <a16:creationId xmlns:a16="http://schemas.microsoft.com/office/drawing/2014/main" id="{3ECB7EF7-24A7-DBD6-0D7F-51BE1768BF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>
            <a:extLst>
              <a:ext uri="{FF2B5EF4-FFF2-40B4-BE49-F238E27FC236}">
                <a16:creationId xmlns:a16="http://schemas.microsoft.com/office/drawing/2014/main" id="{2CC759D5-612F-47BF-FE68-E2336BF2CD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7952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41ffe72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41ffe728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3641ffe728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920967ED-66A1-DA41-5FD8-A93D50348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41ffe7282_0_0:notes">
            <a:extLst>
              <a:ext uri="{FF2B5EF4-FFF2-40B4-BE49-F238E27FC236}">
                <a16:creationId xmlns:a16="http://schemas.microsoft.com/office/drawing/2014/main" id="{A1F3E41E-CF48-3692-6A61-366F43216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41ffe7282_0_0:notes">
            <a:extLst>
              <a:ext uri="{FF2B5EF4-FFF2-40B4-BE49-F238E27FC236}">
                <a16:creationId xmlns:a16="http://schemas.microsoft.com/office/drawing/2014/main" id="{6E83AEFF-7531-B167-038F-84C1BAB484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3641ffe7282_0_0:notes">
            <a:extLst>
              <a:ext uri="{FF2B5EF4-FFF2-40B4-BE49-F238E27FC236}">
                <a16:creationId xmlns:a16="http://schemas.microsoft.com/office/drawing/2014/main" id="{EC265E49-C023-DAEB-D52F-93650BC0F4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2170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06D36200-4879-3AB2-6914-04E10332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41ffe7282_0_0:notes">
            <a:extLst>
              <a:ext uri="{FF2B5EF4-FFF2-40B4-BE49-F238E27FC236}">
                <a16:creationId xmlns:a16="http://schemas.microsoft.com/office/drawing/2014/main" id="{3D181779-412C-2508-9D02-77089132F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41ffe7282_0_0:notes">
            <a:extLst>
              <a:ext uri="{FF2B5EF4-FFF2-40B4-BE49-F238E27FC236}">
                <a16:creationId xmlns:a16="http://schemas.microsoft.com/office/drawing/2014/main" id="{710F7E44-1C65-D176-F357-1CAD353F8D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3641ffe7282_0_0:notes">
            <a:extLst>
              <a:ext uri="{FF2B5EF4-FFF2-40B4-BE49-F238E27FC236}">
                <a16:creationId xmlns:a16="http://schemas.microsoft.com/office/drawing/2014/main" id="{00C32D88-9ADD-A603-7B37-8D29A3F6BB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2547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64CD1472-C298-26D9-BE62-C77976BBC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41ffe7282_0_0:notes">
            <a:extLst>
              <a:ext uri="{FF2B5EF4-FFF2-40B4-BE49-F238E27FC236}">
                <a16:creationId xmlns:a16="http://schemas.microsoft.com/office/drawing/2014/main" id="{19A6897F-7D20-DB33-571F-01E8ABB1A1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41ffe7282_0_0:notes">
            <a:extLst>
              <a:ext uri="{FF2B5EF4-FFF2-40B4-BE49-F238E27FC236}">
                <a16:creationId xmlns:a16="http://schemas.microsoft.com/office/drawing/2014/main" id="{C541043D-B6F3-5D82-F944-BFDDB37DD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3641ffe7282_0_0:notes">
            <a:extLst>
              <a:ext uri="{FF2B5EF4-FFF2-40B4-BE49-F238E27FC236}">
                <a16:creationId xmlns:a16="http://schemas.microsoft.com/office/drawing/2014/main" id="{906ACB69-BACB-178C-A3C6-9AD6047DE1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1181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41ffe728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41ffe7282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641ffe7282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D23C900E-E3FB-E20D-C38A-7F82A26F5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41ffe7282_0_9:notes">
            <a:extLst>
              <a:ext uri="{FF2B5EF4-FFF2-40B4-BE49-F238E27FC236}">
                <a16:creationId xmlns:a16="http://schemas.microsoft.com/office/drawing/2014/main" id="{DCEB9D26-0FBC-C907-754A-24C26ED95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41ffe7282_0_9:notes">
            <a:extLst>
              <a:ext uri="{FF2B5EF4-FFF2-40B4-BE49-F238E27FC236}">
                <a16:creationId xmlns:a16="http://schemas.microsoft.com/office/drawing/2014/main" id="{952BC081-5D3E-5F72-3DB6-5DFE4E7E2A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641ffe7282_0_9:notes">
            <a:extLst>
              <a:ext uri="{FF2B5EF4-FFF2-40B4-BE49-F238E27FC236}">
                <a16:creationId xmlns:a16="http://schemas.microsoft.com/office/drawing/2014/main" id="{4D5A43E7-004A-2D7F-2724-EC6C4E9E92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457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1ffe728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41ffe7282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641ffe7282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1785351-6F79-55C1-689E-86694437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1ffe7282_0_20:notes">
            <a:extLst>
              <a:ext uri="{FF2B5EF4-FFF2-40B4-BE49-F238E27FC236}">
                <a16:creationId xmlns:a16="http://schemas.microsoft.com/office/drawing/2014/main" id="{B182918E-A81D-D940-A8D5-591580A43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41ffe7282_0_20:notes">
            <a:extLst>
              <a:ext uri="{FF2B5EF4-FFF2-40B4-BE49-F238E27FC236}">
                <a16:creationId xmlns:a16="http://schemas.microsoft.com/office/drawing/2014/main" id="{1ED9ECCE-3BF3-6BE0-7A20-72BB97217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641ffe7282_0_20:notes">
            <a:extLst>
              <a:ext uri="{FF2B5EF4-FFF2-40B4-BE49-F238E27FC236}">
                <a16:creationId xmlns:a16="http://schemas.microsoft.com/office/drawing/2014/main" id="{F195378D-596B-8A6A-7DF5-9B259CA324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5585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F92ABF4-CD46-C1A3-D026-8293BD63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1ffe7282_0_20:notes">
            <a:extLst>
              <a:ext uri="{FF2B5EF4-FFF2-40B4-BE49-F238E27FC236}">
                <a16:creationId xmlns:a16="http://schemas.microsoft.com/office/drawing/2014/main" id="{090B710D-9258-1886-FF4B-4A8D42323B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41ffe7282_0_20:notes">
            <a:extLst>
              <a:ext uri="{FF2B5EF4-FFF2-40B4-BE49-F238E27FC236}">
                <a16:creationId xmlns:a16="http://schemas.microsoft.com/office/drawing/2014/main" id="{D2CDDAEC-1264-D438-2CD5-EE8446F0E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641ffe7282_0_20:notes">
            <a:extLst>
              <a:ext uri="{FF2B5EF4-FFF2-40B4-BE49-F238E27FC236}">
                <a16:creationId xmlns:a16="http://schemas.microsoft.com/office/drawing/2014/main" id="{A2FA3211-BCBD-177B-F883-D825BF6247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6163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D0772B5-ACA1-9F77-568E-C2D42342A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1ffe7282_0_20:notes">
            <a:extLst>
              <a:ext uri="{FF2B5EF4-FFF2-40B4-BE49-F238E27FC236}">
                <a16:creationId xmlns:a16="http://schemas.microsoft.com/office/drawing/2014/main" id="{D51BF1A1-9410-F85B-036F-E19AF163B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41ffe7282_0_20:notes">
            <a:extLst>
              <a:ext uri="{FF2B5EF4-FFF2-40B4-BE49-F238E27FC236}">
                <a16:creationId xmlns:a16="http://schemas.microsoft.com/office/drawing/2014/main" id="{C45DE472-6F8A-6BAC-227D-CBE7C72D31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641ffe7282_0_20:notes">
            <a:extLst>
              <a:ext uri="{FF2B5EF4-FFF2-40B4-BE49-F238E27FC236}">
                <a16:creationId xmlns:a16="http://schemas.microsoft.com/office/drawing/2014/main" id="{80492A69-4ED5-31B2-C8B6-BB97FBBA2D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90559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EA25633-E09B-E45C-062B-E2D08CA4E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1ffe7282_0_20:notes">
            <a:extLst>
              <a:ext uri="{FF2B5EF4-FFF2-40B4-BE49-F238E27FC236}">
                <a16:creationId xmlns:a16="http://schemas.microsoft.com/office/drawing/2014/main" id="{D9553405-CF25-60F2-5E18-5B1A28535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41ffe7282_0_20:notes">
            <a:extLst>
              <a:ext uri="{FF2B5EF4-FFF2-40B4-BE49-F238E27FC236}">
                <a16:creationId xmlns:a16="http://schemas.microsoft.com/office/drawing/2014/main" id="{C0A6FEA7-9E9D-28AB-CB6E-7E7E148AD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641ffe7282_0_20:notes">
            <a:extLst>
              <a:ext uri="{FF2B5EF4-FFF2-40B4-BE49-F238E27FC236}">
                <a16:creationId xmlns:a16="http://schemas.microsoft.com/office/drawing/2014/main" id="{7780F9C2-4876-772A-FA0F-7F37FEA348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780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555CF15-0658-5779-D276-795E0AA2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1ffe7282_0_20:notes">
            <a:extLst>
              <a:ext uri="{FF2B5EF4-FFF2-40B4-BE49-F238E27FC236}">
                <a16:creationId xmlns:a16="http://schemas.microsoft.com/office/drawing/2014/main" id="{46728ECF-DD60-ADCC-DA01-9C5C151C2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41ffe7282_0_20:notes">
            <a:extLst>
              <a:ext uri="{FF2B5EF4-FFF2-40B4-BE49-F238E27FC236}">
                <a16:creationId xmlns:a16="http://schemas.microsoft.com/office/drawing/2014/main" id="{F22DD578-7D99-9C63-8758-DABE86C92D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641ffe7282_0_20:notes">
            <a:extLst>
              <a:ext uri="{FF2B5EF4-FFF2-40B4-BE49-F238E27FC236}">
                <a16:creationId xmlns:a16="http://schemas.microsoft.com/office/drawing/2014/main" id="{2D0CD599-1D22-BFA5-AD3B-A67C375A9F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3115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41ffe7282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41ffe7282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641ffe7282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/>
          <p:nvPr/>
        </p:nvSpPr>
        <p:spPr>
          <a:xfrm>
            <a:off x="0" y="6382574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2"/>
          <p:cNvSpPr txBox="1">
            <a:spLocks noGrp="1"/>
          </p:cNvSpPr>
          <p:nvPr>
            <p:ph type="ctrTitle"/>
          </p:nvPr>
        </p:nvSpPr>
        <p:spPr>
          <a:xfrm>
            <a:off x="1284755" y="1159081"/>
            <a:ext cx="9906252" cy="16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mbria"/>
              <a:buNone/>
              <a:defRPr sz="4800" b="1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ubTitle" idx="1"/>
          </p:nvPr>
        </p:nvSpPr>
        <p:spPr>
          <a:xfrm>
            <a:off x="897147" y="3028986"/>
            <a:ext cx="10834778" cy="63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b="0" i="0" u="none" strike="noStrike">
                <a:solidFill>
                  <a:srgbClr val="002060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cxnSp>
        <p:nvCxnSpPr>
          <p:cNvPr id="23" name="Google Shape;23;p12"/>
          <p:cNvCxnSpPr/>
          <p:nvPr/>
        </p:nvCxnSpPr>
        <p:spPr>
          <a:xfrm>
            <a:off x="1284754" y="2927405"/>
            <a:ext cx="987552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" name="Google Shape;2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5162" y="0"/>
            <a:ext cx="1296838" cy="115907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30480" y="6446837"/>
            <a:ext cx="20743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3148444" y="6446836"/>
            <a:ext cx="63488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575" y="0"/>
            <a:ext cx="6130575" cy="108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2"/>
          <p:cNvSpPr txBox="1"/>
          <p:nvPr/>
        </p:nvSpPr>
        <p:spPr>
          <a:xfrm>
            <a:off x="1284754" y="3768141"/>
            <a:ext cx="4101902" cy="63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Supervisor:</a:t>
            </a:r>
            <a:endParaRPr/>
          </a:p>
        </p:txBody>
      </p:sp>
      <p:sp>
        <p:nvSpPr>
          <p:cNvPr id="30" name="Google Shape;30;p12"/>
          <p:cNvSpPr txBox="1"/>
          <p:nvPr/>
        </p:nvSpPr>
        <p:spPr>
          <a:xfrm>
            <a:off x="1254021" y="4437780"/>
            <a:ext cx="4132635" cy="63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Committee Members: </a:t>
            </a:r>
            <a:endParaRPr/>
          </a:p>
        </p:txBody>
      </p:sp>
      <p:sp>
        <p:nvSpPr>
          <p:cNvPr id="31" name="Google Shape;31;p12"/>
          <p:cNvSpPr txBox="1"/>
          <p:nvPr/>
        </p:nvSpPr>
        <p:spPr>
          <a:xfrm>
            <a:off x="1284754" y="5744996"/>
            <a:ext cx="4132635" cy="63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Expected Date of Graduation: </a:t>
            </a:r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5486280" y="5744996"/>
            <a:ext cx="5097462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b="0">
                <a:solidFill>
                  <a:srgbClr val="002060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3"/>
          </p:nvPr>
        </p:nvSpPr>
        <p:spPr>
          <a:xfrm>
            <a:off x="5486400" y="3832225"/>
            <a:ext cx="5097463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>
                <a:solidFill>
                  <a:srgbClr val="002060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4"/>
          </p:nvPr>
        </p:nvSpPr>
        <p:spPr>
          <a:xfrm>
            <a:off x="5486400" y="4552950"/>
            <a:ext cx="5097463" cy="108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mbria"/>
              <a:buNone/>
              <a:defRPr>
                <a:solidFill>
                  <a:srgbClr val="002060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336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30480" y="6446837"/>
            <a:ext cx="20571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48444" y="6446836"/>
            <a:ext cx="63488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361950" y="1120775"/>
            <a:ext cx="10844213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  <a:defRPr>
                <a:solidFill>
                  <a:srgbClr val="002060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◦"/>
              <a:defRPr>
                <a:solidFill>
                  <a:srgbClr val="002060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>
                <a:solidFill>
                  <a:srgbClr val="002060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◦"/>
              <a:defRPr>
                <a:solidFill>
                  <a:srgbClr val="002060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>
                <a:solidFill>
                  <a:srgbClr val="002060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30480" y="6394613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336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mbria"/>
              <a:buNone/>
              <a:defRPr sz="4000" b="0" i="0" u="none" strike="noStrike" cap="non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body" idx="1"/>
          </p:nvPr>
        </p:nvSpPr>
        <p:spPr>
          <a:xfrm>
            <a:off x="311727" y="1153390"/>
            <a:ext cx="11295344" cy="5066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 "/>
              <a:defRPr sz="2400" b="0" i="0" u="none" strike="noStrike" cap="non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◦"/>
              <a:defRPr sz="2000" b="0" i="0" u="none" strike="noStrike" cap="non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◦"/>
              <a:defRPr sz="1600" b="0" i="0" u="none" strike="noStrike" cap="non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30480" y="6446837"/>
            <a:ext cx="20571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ftr" idx="11"/>
          </p:nvPr>
        </p:nvSpPr>
        <p:spPr>
          <a:xfrm>
            <a:off x="3148444" y="6446836"/>
            <a:ext cx="63488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1"/>
          <p:cNvCxnSpPr/>
          <p:nvPr/>
        </p:nvCxnSpPr>
        <p:spPr>
          <a:xfrm>
            <a:off x="1687133" y="801425"/>
            <a:ext cx="9427336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" name="Google Shape;1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10724" y="-3868"/>
            <a:ext cx="981276" cy="98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80" y="6187"/>
            <a:ext cx="1495238" cy="79523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540133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>
            <a:spLocks noGrp="1"/>
          </p:cNvSpPr>
          <p:nvPr>
            <p:ph type="ctrTitle"/>
          </p:nvPr>
        </p:nvSpPr>
        <p:spPr>
          <a:xfrm>
            <a:off x="1284755" y="1159081"/>
            <a:ext cx="9906252" cy="16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RL Based Thermal Comfort Controller</a:t>
            </a:r>
            <a:endParaRPr dirty="0"/>
          </a:p>
        </p:txBody>
      </p:sp>
      <p:sp>
        <p:nvSpPr>
          <p:cNvPr id="46" name="Google Shape;46;p2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dt" idx="10"/>
          </p:nvPr>
        </p:nvSpPr>
        <p:spPr>
          <a:xfrm>
            <a:off x="30480" y="6446837"/>
            <a:ext cx="20743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12-aug-2025</a:t>
            </a:r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ftr" idx="11"/>
          </p:nvPr>
        </p:nvSpPr>
        <p:spPr>
          <a:xfrm>
            <a:off x="3148444" y="6446836"/>
            <a:ext cx="63488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Intelligent Robotics Lab</a:t>
            </a:r>
            <a:endParaRPr dirty="0"/>
          </a:p>
        </p:txBody>
      </p:sp>
      <p:sp>
        <p:nvSpPr>
          <p:cNvPr id="49" name="Google Shape;49;p2"/>
          <p:cNvSpPr txBox="1">
            <a:spLocks noGrp="1"/>
          </p:cNvSpPr>
          <p:nvPr>
            <p:ph type="body" idx="2"/>
          </p:nvPr>
        </p:nvSpPr>
        <p:spPr>
          <a:xfrm>
            <a:off x="5486280" y="5744996"/>
            <a:ext cx="5097462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457200" lvl="0" indent="-393356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595"/>
              <a:buChar char=" "/>
            </a:pPr>
            <a:r>
              <a:rPr lang="en-US" dirty="0"/>
              <a:t>2025 </a:t>
            </a:r>
            <a:r>
              <a:rPr lang="en-US" dirty="0" err="1"/>
              <a:t>InshaAllah</a:t>
            </a:r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body" idx="3"/>
          </p:nvPr>
        </p:nvSpPr>
        <p:spPr>
          <a:xfrm>
            <a:off x="5486400" y="3832225"/>
            <a:ext cx="5097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</a:pPr>
            <a:r>
              <a:rPr lang="en-US" dirty="0"/>
              <a:t> Dr. Latif Anjum &amp; Dr. Fahad Iqbal</a:t>
            </a:r>
            <a:endParaRPr dirty="0"/>
          </a:p>
        </p:txBody>
      </p:sp>
      <p:sp>
        <p:nvSpPr>
          <p:cNvPr id="51" name="Google Shape;51;p2"/>
          <p:cNvSpPr txBox="1">
            <a:spLocks noGrp="1"/>
          </p:cNvSpPr>
          <p:nvPr>
            <p:ph type="body" idx="4"/>
          </p:nvPr>
        </p:nvSpPr>
        <p:spPr>
          <a:xfrm>
            <a:off x="5486400" y="4552950"/>
            <a:ext cx="5097463" cy="108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marR="0" lvl="0" indent="-44323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80"/>
              <a:buFont typeface="Arial"/>
              <a:buAutoNum type="arabicPeriod"/>
            </a:pPr>
            <a:r>
              <a:rPr lang="en-US" sz="2180" b="0" i="0" u="none" strike="noStrike" cap="none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Dr.</a:t>
            </a:r>
            <a:r>
              <a:rPr lang="en-US" sz="2180" dirty="0"/>
              <a:t> Sajid</a:t>
            </a:r>
            <a:endParaRPr sz="2180" dirty="0"/>
          </a:p>
          <a:p>
            <a:pPr marL="457200" marR="0" lvl="0" indent="-44323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180"/>
              <a:buFont typeface="Arial"/>
              <a:buAutoNum type="arabicPeriod"/>
            </a:pPr>
            <a:r>
              <a:rPr lang="en-US" sz="2180" b="0" i="0" u="none" strike="noStrike" cap="none" dirty="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Dr. </a:t>
            </a:r>
            <a:r>
              <a:rPr lang="en-US" sz="2180" dirty="0"/>
              <a:t>Usman</a:t>
            </a:r>
            <a:endParaRPr sz="2180" dirty="0"/>
          </a:p>
          <a:p>
            <a:pPr marL="0" lvl="0" indent="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680"/>
              <a:buFont typeface="Cambria"/>
              <a:buNone/>
            </a:pPr>
            <a:endParaRPr sz="21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4D373159-5AA6-EAFF-2033-3F7CF505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>
            <a:extLst>
              <a:ext uri="{FF2B5EF4-FFF2-40B4-BE49-F238E27FC236}">
                <a16:creationId xmlns:a16="http://schemas.microsoft.com/office/drawing/2014/main" id="{B3B89585-551E-11FE-59B4-6C8C70175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336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/>
              <a:t>Feedback on Last Presentation</a:t>
            </a:r>
            <a:endParaRPr dirty="0"/>
          </a:p>
        </p:txBody>
      </p:sp>
      <p:sp>
        <p:nvSpPr>
          <p:cNvPr id="57" name="Google Shape;57;p4">
            <a:extLst>
              <a:ext uri="{FF2B5EF4-FFF2-40B4-BE49-F238E27FC236}">
                <a16:creationId xmlns:a16="http://schemas.microsoft.com/office/drawing/2014/main" id="{4E1B798D-5790-6ED6-732F-71099244F92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0480" y="6446837"/>
            <a:ext cx="20571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12- aug 2025</a:t>
            </a:r>
            <a:endParaRPr/>
          </a:p>
        </p:txBody>
      </p:sp>
      <p:sp>
        <p:nvSpPr>
          <p:cNvPr id="58" name="Google Shape;58;p4">
            <a:extLst>
              <a:ext uri="{FF2B5EF4-FFF2-40B4-BE49-F238E27FC236}">
                <a16:creationId xmlns:a16="http://schemas.microsoft.com/office/drawing/2014/main" id="{76D443D3-2C7F-729B-E61B-8499FE9968F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48444" y="6446836"/>
            <a:ext cx="63488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Intelligent Robotics Lab</a:t>
            </a:r>
            <a:endParaRPr/>
          </a:p>
        </p:txBody>
      </p:sp>
      <p:sp>
        <p:nvSpPr>
          <p:cNvPr id="59" name="Google Shape;59;p4">
            <a:extLst>
              <a:ext uri="{FF2B5EF4-FFF2-40B4-BE49-F238E27FC236}">
                <a16:creationId xmlns:a16="http://schemas.microsoft.com/office/drawing/2014/main" id="{AF6E86E2-2D3C-0D73-8AC3-AACE10AC07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0" name="Google Shape;60;p4">
            <a:extLst>
              <a:ext uri="{FF2B5EF4-FFF2-40B4-BE49-F238E27FC236}">
                <a16:creationId xmlns:a16="http://schemas.microsoft.com/office/drawing/2014/main" id="{05253BCC-36A4-0370-0BAA-A6230E848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6575" y="1018163"/>
            <a:ext cx="10844100" cy="51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Comment 1: What if we combine all reward function into 1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Comment 2: Devise different real life scenarios and see if the controller works 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Comment 3: Focus on explaining reward</a:t>
            </a:r>
          </a:p>
          <a:p>
            <a:pPr marL="45720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Comment 4: Why stick with PPO? Try other Techniques as well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013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336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Key Milestones Achieved </a:t>
            </a:r>
            <a:endParaRPr/>
          </a:p>
        </p:txBody>
      </p:sp>
      <p:sp>
        <p:nvSpPr>
          <p:cNvPr id="57" name="Google Shape;57;p4"/>
          <p:cNvSpPr txBox="1">
            <a:spLocks noGrp="1"/>
          </p:cNvSpPr>
          <p:nvPr>
            <p:ph type="dt" idx="10"/>
          </p:nvPr>
        </p:nvSpPr>
        <p:spPr>
          <a:xfrm>
            <a:off x="30480" y="6446837"/>
            <a:ext cx="20571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12- aug 2025</a:t>
            </a:r>
            <a:endParaRPr/>
          </a:p>
        </p:txBody>
      </p:sp>
      <p:sp>
        <p:nvSpPr>
          <p:cNvPr id="58" name="Google Shape;58;p4"/>
          <p:cNvSpPr txBox="1">
            <a:spLocks noGrp="1"/>
          </p:cNvSpPr>
          <p:nvPr>
            <p:ph type="ftr" idx="11"/>
          </p:nvPr>
        </p:nvSpPr>
        <p:spPr>
          <a:xfrm>
            <a:off x="3148444" y="6446836"/>
            <a:ext cx="63488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Intelligent Robotics Lab</a:t>
            </a:r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0" name="Google Shape;60;p4"/>
          <p:cNvSpPr txBox="1">
            <a:spLocks noGrp="1"/>
          </p:cNvSpPr>
          <p:nvPr>
            <p:ph type="body" idx="1"/>
          </p:nvPr>
        </p:nvSpPr>
        <p:spPr>
          <a:xfrm>
            <a:off x="346575" y="1018163"/>
            <a:ext cx="10844100" cy="51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Milestone 1: logged training curve 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Milestone 2: reward hyperparameter optimization still in progress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Milestone 3: most related paper using same strategy 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41ffe7282_0_0"/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dirty="0"/>
              <a:t>Reward Function</a:t>
            </a:r>
            <a:endParaRPr dirty="0"/>
          </a:p>
        </p:txBody>
      </p:sp>
      <p:sp>
        <p:nvSpPr>
          <p:cNvPr id="67" name="Google Shape;67;g3641ffe7282_0_0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5CF339-90B2-86F3-98FF-73E22A803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324" y="1235969"/>
            <a:ext cx="9474026" cy="15072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9F01EC-9661-3BD4-4E84-26B0A1CB8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991" y="4007734"/>
            <a:ext cx="8418942" cy="17181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B36F2923-4D18-87D1-FD66-B63D769FC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41ffe7282_0_0">
            <a:extLst>
              <a:ext uri="{FF2B5EF4-FFF2-40B4-BE49-F238E27FC236}">
                <a16:creationId xmlns:a16="http://schemas.microsoft.com/office/drawing/2014/main" id="{2C7EDDB5-ECE7-890D-FB14-57D5E13C9D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dirty="0"/>
              <a:t>Reward Function latest literature</a:t>
            </a:r>
            <a:endParaRPr dirty="0"/>
          </a:p>
        </p:txBody>
      </p:sp>
      <p:sp>
        <p:nvSpPr>
          <p:cNvPr id="67" name="Google Shape;67;g3641ffe7282_0_0">
            <a:extLst>
              <a:ext uri="{FF2B5EF4-FFF2-40B4-BE49-F238E27FC236}">
                <a16:creationId xmlns:a16="http://schemas.microsoft.com/office/drawing/2014/main" id="{4EB7B1BA-4395-60D0-AD52-BF6709AA3A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EE5A80-5E84-F670-87B6-5217412F4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32" y="1522546"/>
            <a:ext cx="10352398" cy="364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1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A5F0D795-9D70-C657-718D-591FBE07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41ffe7282_0_0">
            <a:extLst>
              <a:ext uri="{FF2B5EF4-FFF2-40B4-BE49-F238E27FC236}">
                <a16:creationId xmlns:a16="http://schemas.microsoft.com/office/drawing/2014/main" id="{B58EB0AA-F9DA-8964-C0E3-4C11103B9D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dirty="0"/>
              <a:t>Reward Function latest literature</a:t>
            </a:r>
            <a:endParaRPr dirty="0"/>
          </a:p>
        </p:txBody>
      </p:sp>
      <p:sp>
        <p:nvSpPr>
          <p:cNvPr id="67" name="Google Shape;67;g3641ffe7282_0_0">
            <a:extLst>
              <a:ext uri="{FF2B5EF4-FFF2-40B4-BE49-F238E27FC236}">
                <a16:creationId xmlns:a16="http://schemas.microsoft.com/office/drawing/2014/main" id="{F373B6F8-380E-6562-1829-684CFF21CD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7840ED-D79C-947D-C980-8234FD80C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133" y="1520812"/>
            <a:ext cx="8696250" cy="12115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4168AA-52A0-65C6-896B-38AB2768D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823" y="2732313"/>
            <a:ext cx="8098535" cy="280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47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9557-9F67-709D-B552-7A8C89AA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Paarameter</a:t>
            </a:r>
            <a:r>
              <a:rPr lang="en-US" dirty="0"/>
              <a:t> optimization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4B858A-97DF-8832-64E6-BBED0974F8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2BCEF7-09B1-36DF-D678-A7DD73332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23" y="2628445"/>
            <a:ext cx="10593353" cy="124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8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5AA4B-AB6B-1291-0EAF-F8C195435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30AD-634F-976E-0FB5-AF70A266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Paarameter</a:t>
            </a:r>
            <a:r>
              <a:rPr lang="en-US" dirty="0"/>
              <a:t> optimization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3ED960-33DA-A604-57CA-2689AA6FCD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74BD8F1-7D37-5C89-54BA-85B029F59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1095375"/>
            <a:ext cx="75247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252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09861-EE40-BC04-21D9-A1EB98BF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859D-26C1-1756-71A8-9AE93F8E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Paarameter</a:t>
            </a:r>
            <a:r>
              <a:rPr lang="en-US" dirty="0"/>
              <a:t> optimization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DE06AC-F523-0337-E8F9-29724736F4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29052E6-7533-D183-B903-2FFF51120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1095375"/>
            <a:ext cx="75247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74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91EFF-A726-D8AB-79B4-9D221CE7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3B5C-4115-6C72-F58D-8D54E0B3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Paarameter</a:t>
            </a:r>
            <a:r>
              <a:rPr lang="en-US" dirty="0"/>
              <a:t> optimization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F56047-8F3C-062C-643F-8951E04970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42651F9-B88C-3105-C628-1D57F86C5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8" y="1095375"/>
            <a:ext cx="7515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004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B1185-8419-DF35-40B7-ADC84B50F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EDAD-A079-8797-5314-94CE3B53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optimization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6D6838-CAF0-5D68-484E-8BD188CF0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9EF986-92C9-CC5D-3518-9D3F4F0BB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594663"/>
              </p:ext>
            </p:extLst>
          </p:nvPr>
        </p:nvGraphicFramePr>
        <p:xfrm>
          <a:off x="1687133" y="1422304"/>
          <a:ext cx="8678172" cy="51837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723181">
                  <a:extLst>
                    <a:ext uri="{9D8B030D-6E8A-4147-A177-3AD203B41FA5}">
                      <a16:colId xmlns:a16="http://schemas.microsoft.com/office/drawing/2014/main" val="2779186441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4203354587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3063169515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2605868708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424363110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3850094593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1999594071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3485323531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1885792158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1505124808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4221828133"/>
                    </a:ext>
                  </a:extLst>
                </a:gridCol>
                <a:gridCol w="723181">
                  <a:extLst>
                    <a:ext uri="{9D8B030D-6E8A-4147-A177-3AD203B41FA5}">
                      <a16:colId xmlns:a16="http://schemas.microsoft.com/office/drawing/2014/main" val="26526904"/>
                    </a:ext>
                  </a:extLst>
                </a:gridCol>
              </a:tblGrid>
              <a:tr h="51837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AU" sz="900" b="1" dirty="0">
                          <a:effectLst/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>
                          <a:effectLst/>
                          <a:highlight>
                            <a:srgbClr val="FFFF00"/>
                          </a:highlight>
                        </a:rPr>
                        <a:t>PPO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>
                          <a:effectLst/>
                          <a:highlight>
                            <a:srgbClr val="FFFF00"/>
                          </a:highlight>
                        </a:rPr>
                        <a:t>40.0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>
                          <a:effectLst/>
                          <a:highlight>
                            <a:srgbClr val="FFFF00"/>
                          </a:highlight>
                        </a:rPr>
                        <a:t>0.2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>
                          <a:effectLst/>
                          <a:highlight>
                            <a:srgbClr val="FFFF00"/>
                          </a:highlight>
                        </a:rPr>
                        <a:t>0.03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>
                          <a:effectLst/>
                          <a:highlight>
                            <a:srgbClr val="FFFF00"/>
                          </a:highlight>
                        </a:rPr>
                        <a:t>200000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>
                          <a:effectLst/>
                          <a:highlight>
                            <a:srgbClr val="FFFF00"/>
                          </a:highlight>
                        </a:rPr>
                        <a:t>-132.038771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>
                          <a:effectLst/>
                          <a:highlight>
                            <a:srgbClr val="FFFF00"/>
                          </a:highlight>
                        </a:rPr>
                        <a:t>137.488095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>
                          <a:effectLst/>
                          <a:highlight>
                            <a:srgbClr val="FFFF00"/>
                          </a:highlight>
                        </a:rPr>
                        <a:t>2.502603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>
                          <a:effectLst/>
                          <a:highlight>
                            <a:srgbClr val="FFFF00"/>
                          </a:highlight>
                        </a:rPr>
                        <a:t>1.092160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>
                          <a:effectLst/>
                          <a:highlight>
                            <a:srgbClr val="FFFF00"/>
                          </a:highlight>
                        </a:rPr>
                        <a:t>4.101828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>
                          <a:effectLst/>
                          <a:highlight>
                            <a:srgbClr val="FFFF00"/>
                          </a:highlight>
                        </a:rPr>
                        <a:t>4.351448</a:t>
                      </a: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90801466"/>
                  </a:ext>
                </a:extLst>
              </a:tr>
              <a:tr h="51837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AU" sz="900" b="1">
                          <a:effectLst/>
                        </a:rPr>
                        <a:t>1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PPO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10.0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0.10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200000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-134.870134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138.151100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2.572437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1.206488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4.389699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dirty="0">
                          <a:effectLst/>
                        </a:rPr>
                        <a:t>4.434290</a:t>
                      </a: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879038191"/>
                  </a:ext>
                </a:extLst>
              </a:tr>
              <a:tr h="51837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AU" sz="900" b="1">
                          <a:effectLst/>
                        </a:rPr>
                        <a:t>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PPO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10.0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1.2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0.10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200000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-143.252513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136.401292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3.697974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1.693337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5.294803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4.491379</a:t>
                      </a: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557849736"/>
                  </a:ext>
                </a:extLst>
              </a:tr>
              <a:tr h="51837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AU" sz="900" b="1">
                          <a:effectLst/>
                        </a:rPr>
                        <a:t>3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PPO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40.0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0.8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0.05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200000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-176.604312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136.715102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5.995857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3.350580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4.412570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4.187331</a:t>
                      </a: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3535264660"/>
                  </a:ext>
                </a:extLst>
              </a:tr>
              <a:tr h="51837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AU" sz="900" b="1">
                          <a:effectLst/>
                        </a:rPr>
                        <a:t>4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PPO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10.0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1.2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0.01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200000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-179.552846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138.562570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5.137149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3.424497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4.257044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4.415158</a:t>
                      </a: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4143519719"/>
                  </a:ext>
                </a:extLst>
              </a:tr>
              <a:tr h="51837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AU" sz="900" b="1">
                          <a:effectLst/>
                        </a:rPr>
                        <a:t>5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PPO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40.0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0.05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200000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-181.055715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136.835377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5.440943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3.569430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3.976461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4.325323</a:t>
                      </a: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332272327"/>
                  </a:ext>
                </a:extLst>
              </a:tr>
              <a:tr h="51837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AU" sz="900" b="1">
                          <a:effectLst/>
                        </a:rPr>
                        <a:t>6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PPO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20.0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1.2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0.10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200000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-201.400963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138.648492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6.946167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4.511395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5.085263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4.555853</a:t>
                      </a: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3337512419"/>
                  </a:ext>
                </a:extLst>
              </a:tr>
              <a:tr h="51837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AU" sz="900" b="1">
                          <a:effectLst/>
                        </a:rPr>
                        <a:t>7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PPO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20.0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0.05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200000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-207.277154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137.830264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6.961955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4.840746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3.960628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4.376331</a:t>
                      </a: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2115547354"/>
                  </a:ext>
                </a:extLst>
              </a:tr>
              <a:tr h="51837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AU" sz="900" b="1">
                          <a:effectLst/>
                        </a:rPr>
                        <a:t>8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PPO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40.0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0.01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200000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-253.729931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137.599848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9.313322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7.168766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5.494748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4.569174</a:t>
                      </a: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1147832899"/>
                  </a:ext>
                </a:extLst>
              </a:tr>
              <a:tr h="51837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AU" sz="900" b="1">
                          <a:effectLst/>
                        </a:rPr>
                        <a:t>9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PPO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40.0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0.8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0.10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200000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-256.762971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138.329136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8.728734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7.295993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>
                          <a:effectLst/>
                        </a:rPr>
                        <a:t>3.595997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dirty="0">
                          <a:effectLst/>
                        </a:rPr>
                        <a:t>4.398191</a:t>
                      </a: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209725035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477DAE-C262-A57A-A43E-E819017EF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690992"/>
              </p:ext>
            </p:extLst>
          </p:nvPr>
        </p:nvGraphicFramePr>
        <p:xfrm>
          <a:off x="1687133" y="961785"/>
          <a:ext cx="8745912" cy="46051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28826">
                  <a:extLst>
                    <a:ext uri="{9D8B030D-6E8A-4147-A177-3AD203B41FA5}">
                      <a16:colId xmlns:a16="http://schemas.microsoft.com/office/drawing/2014/main" val="2174153738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172101142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3659841396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3000720738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3346269345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748718913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3831705815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3323550910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526864584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3178385229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905715898"/>
                    </a:ext>
                  </a:extLst>
                </a:gridCol>
                <a:gridCol w="728826">
                  <a:extLst>
                    <a:ext uri="{9D8B030D-6E8A-4147-A177-3AD203B41FA5}">
                      <a16:colId xmlns:a16="http://schemas.microsoft.com/office/drawing/2014/main" val="133359771"/>
                    </a:ext>
                  </a:extLst>
                </a:gridCol>
              </a:tblGrid>
              <a:tr h="46051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900" b="1" dirty="0">
                          <a:effectLst/>
                        </a:rPr>
                        <a:t>N</a:t>
                      </a:r>
                      <a:r>
                        <a:rPr lang="en-AU" sz="900" b="1" dirty="0">
                          <a:effectLst/>
                        </a:rPr>
                        <a:t>o.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>
                          <a:effectLst/>
                        </a:rPr>
                        <a:t>Algo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 err="1">
                          <a:effectLst/>
                        </a:rPr>
                        <a:t>eta_w</a:t>
                      </a:r>
                      <a:endParaRPr lang="en-AU" sz="900" b="1" dirty="0">
                        <a:effectLst/>
                      </a:endParaRP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 err="1">
                          <a:effectLst/>
                        </a:rPr>
                        <a:t>zeta_w</a:t>
                      </a:r>
                      <a:endParaRPr lang="en-AU" sz="900" b="1" dirty="0">
                        <a:effectLst/>
                      </a:endParaRP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 err="1">
                          <a:effectLst/>
                        </a:rPr>
                        <a:t>lamb_w</a:t>
                      </a:r>
                      <a:endParaRPr lang="en-AU" sz="900" b="1" dirty="0">
                        <a:effectLst/>
                      </a:endParaRP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>
                          <a:effectLst/>
                        </a:rPr>
                        <a:t>steps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>
                          <a:effectLst/>
                        </a:rPr>
                        <a:t>Return</a:t>
                      </a: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 err="1">
                          <a:effectLst/>
                        </a:rPr>
                        <a:t>Energy_kWh</a:t>
                      </a:r>
                      <a:endParaRPr lang="en-AU" sz="900" b="1" dirty="0">
                        <a:effectLst/>
                      </a:endParaRP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 err="1">
                          <a:effectLst/>
                        </a:rPr>
                        <a:t>Comfort_degC_h</a:t>
                      </a:r>
                      <a:endParaRPr lang="en-AU" sz="900" b="1" dirty="0">
                        <a:effectLst/>
                      </a:endParaRP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 err="1">
                          <a:effectLst/>
                        </a:rPr>
                        <a:t>Comfort_penalty</a:t>
                      </a:r>
                      <a:endParaRPr lang="en-AU" sz="900" b="1" dirty="0">
                        <a:effectLst/>
                      </a:endParaRP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 err="1">
                          <a:effectLst/>
                        </a:rPr>
                        <a:t>Smooth_SumAbsDu</a:t>
                      </a:r>
                      <a:endParaRPr lang="en-AU" sz="900" b="1" dirty="0">
                        <a:effectLst/>
                      </a:endParaRPr>
                    </a:p>
                  </a:txBody>
                  <a:tcPr marL="57565" marR="57565" marT="28782" marB="28782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900" b="1" dirty="0" err="1">
                          <a:effectLst/>
                        </a:rPr>
                        <a:t>Peak_kW</a:t>
                      </a:r>
                      <a:endParaRPr lang="en-AU" sz="900" b="1" dirty="0">
                        <a:effectLst/>
                      </a:endParaRPr>
                    </a:p>
                  </a:txBody>
                  <a:tcPr marL="57565" marR="57565" marT="28782" marB="28782" anchor="ctr"/>
                </a:tc>
                <a:extLst>
                  <a:ext uri="{0D108BD9-81ED-4DB2-BD59-A6C34878D82A}">
                    <a16:rowId xmlns:a16="http://schemas.microsoft.com/office/drawing/2014/main" val="4010066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014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B45F5-7C5D-CB4B-A873-92FFEF25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ED30-BDFC-E004-0242-5E7975AA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optimization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FF8B6-D851-9766-D9B9-1E2FB8F20A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C1072-9161-7465-AFF2-157AED34E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67" y="2460171"/>
            <a:ext cx="11163665" cy="173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0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6C197B9B-29CE-7A32-B46A-8453F1F4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41ffe7282_0_0">
            <a:extLst>
              <a:ext uri="{FF2B5EF4-FFF2-40B4-BE49-F238E27FC236}">
                <a16:creationId xmlns:a16="http://schemas.microsoft.com/office/drawing/2014/main" id="{016FED98-29C6-BDAB-6990-35A8BBDF5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dirty="0"/>
              <a:t>Observation Space </a:t>
            </a:r>
            <a:endParaRPr dirty="0"/>
          </a:p>
        </p:txBody>
      </p:sp>
      <p:sp>
        <p:nvSpPr>
          <p:cNvPr id="67" name="Google Shape;67;g3641ffe7282_0_0">
            <a:extLst>
              <a:ext uri="{FF2B5EF4-FFF2-40B4-BE49-F238E27FC236}">
                <a16:creationId xmlns:a16="http://schemas.microsoft.com/office/drawing/2014/main" id="{E0DFFAA1-E165-5AE8-434B-219CC677C1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89B139-8AE8-D14A-A2C5-C27102B3F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351" y="1397416"/>
            <a:ext cx="7623131" cy="340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84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41ffe7282_0_9"/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Scenarios</a:t>
            </a:r>
            <a:endParaRPr dirty="0"/>
          </a:p>
        </p:txBody>
      </p:sp>
      <p:sp>
        <p:nvSpPr>
          <p:cNvPr id="75" name="Google Shape;75;g3641ffe7282_0_9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DDE11A-DD81-50B8-ECF5-3FBBCAE8C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50" y="1876409"/>
            <a:ext cx="11569300" cy="31051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B80BC8AA-529B-43F2-3B73-E7DB2DF5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41ffe7282_0_9">
            <a:extLst>
              <a:ext uri="{FF2B5EF4-FFF2-40B4-BE49-F238E27FC236}">
                <a16:creationId xmlns:a16="http://schemas.microsoft.com/office/drawing/2014/main" id="{BD7A53FD-AE04-75E1-046D-C1EDBE3CBB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Baselines</a:t>
            </a:r>
            <a:endParaRPr dirty="0"/>
          </a:p>
        </p:txBody>
      </p:sp>
      <p:sp>
        <p:nvSpPr>
          <p:cNvPr id="75" name="Google Shape;75;g3641ffe7282_0_9">
            <a:extLst>
              <a:ext uri="{FF2B5EF4-FFF2-40B4-BE49-F238E27FC236}">
                <a16:creationId xmlns:a16="http://schemas.microsoft.com/office/drawing/2014/main" id="{B98D6A4F-9BAF-9307-2869-EC4280C2AB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FE077-093D-38EE-F128-B63A37B49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31" y="2284031"/>
            <a:ext cx="11085379" cy="228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30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7968-3C88-6172-02C3-80FD5C2D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curve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539B0E-67B4-DBAB-6D70-3BB754262C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006C06-A5E7-C6B7-898C-DD1826F34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1095375"/>
            <a:ext cx="75247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471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09BB-357B-A1CC-CB86-59824E8C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24A78-77A7-9084-24C2-D3781C3B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curve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B727ED-D296-3F8D-2CA0-389F737301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615555-CD16-ED70-1AE1-45D2D32DB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1095375"/>
            <a:ext cx="75247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018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1ffe7282_0_20"/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S1</a:t>
            </a:r>
            <a:endParaRPr dirty="0"/>
          </a:p>
        </p:txBody>
      </p:sp>
      <p:sp>
        <p:nvSpPr>
          <p:cNvPr id="86" name="Google Shape;86;g3641ffe7282_0_20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D5396B-B84A-CB06-F7A5-31810C690D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221"/>
          <a:stretch>
            <a:fillRect/>
          </a:stretch>
        </p:blipFill>
        <p:spPr>
          <a:xfrm>
            <a:off x="838182" y="1785257"/>
            <a:ext cx="10515635" cy="32874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8C371FE0-E079-3E1C-43D9-956F708F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1ffe7282_0_20">
            <a:extLst>
              <a:ext uri="{FF2B5EF4-FFF2-40B4-BE49-F238E27FC236}">
                <a16:creationId xmlns:a16="http://schemas.microsoft.com/office/drawing/2014/main" id="{E036A939-1E31-BBCD-0366-4EA941CAA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S1</a:t>
            </a:r>
            <a:endParaRPr dirty="0"/>
          </a:p>
        </p:txBody>
      </p:sp>
      <p:sp>
        <p:nvSpPr>
          <p:cNvPr id="86" name="Google Shape;86;g3641ffe7282_0_20">
            <a:extLst>
              <a:ext uri="{FF2B5EF4-FFF2-40B4-BE49-F238E27FC236}">
                <a16:creationId xmlns:a16="http://schemas.microsoft.com/office/drawing/2014/main" id="{E467D984-EB05-1C4B-30C7-C2E3D04A4F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23932B-5FD6-3343-628C-32B695BFEF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079"/>
          <a:stretch>
            <a:fillRect/>
          </a:stretch>
        </p:blipFill>
        <p:spPr bwMode="auto">
          <a:xfrm>
            <a:off x="946070" y="1812471"/>
            <a:ext cx="10299859" cy="323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75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D0ACF8E3-876A-5F44-685F-622B55ADC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1ffe7282_0_20">
            <a:extLst>
              <a:ext uri="{FF2B5EF4-FFF2-40B4-BE49-F238E27FC236}">
                <a16:creationId xmlns:a16="http://schemas.microsoft.com/office/drawing/2014/main" id="{ECE507DB-22F6-2525-8B6C-97F1A1922C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S1</a:t>
            </a:r>
            <a:endParaRPr dirty="0"/>
          </a:p>
        </p:txBody>
      </p:sp>
      <p:sp>
        <p:nvSpPr>
          <p:cNvPr id="86" name="Google Shape;86;g3641ffe7282_0_20">
            <a:extLst>
              <a:ext uri="{FF2B5EF4-FFF2-40B4-BE49-F238E27FC236}">
                <a16:creationId xmlns:a16="http://schemas.microsoft.com/office/drawing/2014/main" id="{FFFD222A-2594-9434-C949-37B5058046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168B66-C238-6094-C23F-0B262BB04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4863"/>
            <a:ext cx="12192000" cy="270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172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91FAF16A-0DA9-A7EF-15D9-D5A889853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1ffe7282_0_20">
            <a:extLst>
              <a:ext uri="{FF2B5EF4-FFF2-40B4-BE49-F238E27FC236}">
                <a16:creationId xmlns:a16="http://schemas.microsoft.com/office/drawing/2014/main" id="{B8F1A60A-F087-173A-2243-2481344F72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S2</a:t>
            </a:r>
            <a:endParaRPr dirty="0"/>
          </a:p>
        </p:txBody>
      </p:sp>
      <p:sp>
        <p:nvSpPr>
          <p:cNvPr id="86" name="Google Shape;86;g3641ffe7282_0_20">
            <a:extLst>
              <a:ext uri="{FF2B5EF4-FFF2-40B4-BE49-F238E27FC236}">
                <a16:creationId xmlns:a16="http://schemas.microsoft.com/office/drawing/2014/main" id="{54AE4605-E8D0-02DB-870A-DCC9DB21C2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84DC486-7A11-E93C-3379-8529A68B9B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44"/>
          <a:stretch>
            <a:fillRect/>
          </a:stretch>
        </p:blipFill>
        <p:spPr bwMode="auto">
          <a:xfrm>
            <a:off x="505342" y="1583871"/>
            <a:ext cx="11546468" cy="369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975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722A1230-393C-9AD4-8DEA-6D663416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1ffe7282_0_20">
            <a:extLst>
              <a:ext uri="{FF2B5EF4-FFF2-40B4-BE49-F238E27FC236}">
                <a16:creationId xmlns:a16="http://schemas.microsoft.com/office/drawing/2014/main" id="{51BA68AB-B037-01BC-C0B7-AD18D33765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S2</a:t>
            </a:r>
            <a:endParaRPr dirty="0"/>
          </a:p>
        </p:txBody>
      </p:sp>
      <p:sp>
        <p:nvSpPr>
          <p:cNvPr id="86" name="Google Shape;86;g3641ffe7282_0_20">
            <a:extLst>
              <a:ext uri="{FF2B5EF4-FFF2-40B4-BE49-F238E27FC236}">
                <a16:creationId xmlns:a16="http://schemas.microsoft.com/office/drawing/2014/main" id="{D893CFB8-3606-0246-BC22-9A41475BC0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B1C898-7625-7D7E-3493-E5D2A9AD1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47" y="1730830"/>
            <a:ext cx="11330796" cy="354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24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8D940D0A-BCEB-609A-7A81-5D82FE8B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1ffe7282_0_20">
            <a:extLst>
              <a:ext uri="{FF2B5EF4-FFF2-40B4-BE49-F238E27FC236}">
                <a16:creationId xmlns:a16="http://schemas.microsoft.com/office/drawing/2014/main" id="{2B347DD1-C317-7410-776B-7306A0D51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S2</a:t>
            </a:r>
            <a:endParaRPr dirty="0"/>
          </a:p>
        </p:txBody>
      </p:sp>
      <p:sp>
        <p:nvSpPr>
          <p:cNvPr id="86" name="Google Shape;86;g3641ffe7282_0_20">
            <a:extLst>
              <a:ext uri="{FF2B5EF4-FFF2-40B4-BE49-F238E27FC236}">
                <a16:creationId xmlns:a16="http://schemas.microsoft.com/office/drawing/2014/main" id="{71B9AA5E-04E7-B144-B251-64AE499337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2BE42E1-173F-E0AF-007C-C06A279E4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49500"/>
            <a:ext cx="121920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154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41ffe7282_0_42"/>
          <p:cNvSpPr txBox="1">
            <a:spLocks noGrp="1"/>
          </p:cNvSpPr>
          <p:nvPr>
            <p:ph type="title"/>
          </p:nvPr>
        </p:nvSpPr>
        <p:spPr>
          <a:xfrm>
            <a:off x="1589162" y="203575"/>
            <a:ext cx="9427200" cy="62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General</a:t>
            </a:r>
            <a:endParaRPr dirty="0"/>
          </a:p>
        </p:txBody>
      </p:sp>
      <p:sp>
        <p:nvSpPr>
          <p:cNvPr id="102" name="Google Shape;102;g3641ffe7282_0_42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1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105" name="Google Shape;105;g3641ffe7282_0_42"/>
          <p:cNvSpPr txBox="1"/>
          <p:nvPr/>
        </p:nvSpPr>
        <p:spPr>
          <a:xfrm>
            <a:off x="296825" y="6029525"/>
            <a:ext cx="72330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https://ieeexplore.ieee.org/document/10540133/</a:t>
            </a:r>
            <a:r>
              <a:rPr lang="en-US" sz="1900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solidFill>
                <a:srgbClr val="3F3F3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846702-BB0D-C6DB-D085-FB00ABF2489B}"/>
              </a:ext>
            </a:extLst>
          </p:cNvPr>
          <p:cNvSpPr txBox="1"/>
          <p:nvPr/>
        </p:nvSpPr>
        <p:spPr>
          <a:xfrm>
            <a:off x="881743" y="1556657"/>
            <a:ext cx="10145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reduce training time the simplest RC house model is chosen</a:t>
            </a:r>
            <a:endParaRPr lang="en-AU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454E1-C7EB-5786-B371-7F53A5942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054" y="2864737"/>
            <a:ext cx="7899891" cy="172903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1687133" y="149495"/>
            <a:ext cx="9427336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/>
              <a:t>Plan</a:t>
            </a:r>
            <a:endParaRPr dirty="0"/>
          </a:p>
        </p:txBody>
      </p:sp>
      <p:sp>
        <p:nvSpPr>
          <p:cNvPr id="121" name="Google Shape;121;p7"/>
          <p:cNvSpPr txBox="1">
            <a:spLocks noGrp="1"/>
          </p:cNvSpPr>
          <p:nvPr>
            <p:ph type="dt" idx="10"/>
          </p:nvPr>
        </p:nvSpPr>
        <p:spPr>
          <a:xfrm>
            <a:off x="30480" y="6446837"/>
            <a:ext cx="20571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12 aug 2025</a:t>
            </a:r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ftr" idx="11"/>
          </p:nvPr>
        </p:nvSpPr>
        <p:spPr>
          <a:xfrm>
            <a:off x="3148444" y="6446836"/>
            <a:ext cx="63488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Intelligent Robotics Lab</a:t>
            </a:r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124" name="Google Shape;124;p7"/>
          <p:cNvSpPr txBox="1">
            <a:spLocks noGrp="1"/>
          </p:cNvSpPr>
          <p:nvPr>
            <p:ph type="body" idx="1"/>
          </p:nvPr>
        </p:nvSpPr>
        <p:spPr>
          <a:xfrm>
            <a:off x="361950" y="1120775"/>
            <a:ext cx="10844213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None/>
            </a:pP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dirty="0">
                <a:solidFill>
                  <a:schemeClr val="dk1"/>
                </a:solidFill>
              </a:rPr>
              <a:t>Tweek to improve it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dirty="0">
                <a:solidFill>
                  <a:schemeClr val="dk1"/>
                </a:solidFill>
              </a:rPr>
              <a:t>Try on other Scenarios as well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US" dirty="0">
                <a:solidFill>
                  <a:schemeClr val="dk1"/>
                </a:solidFill>
              </a:rPr>
              <a:t>Test on other BOPTEST environments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C552-DC7D-06B4-F40C-BABDC86B4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FeedBack</a:t>
            </a:r>
            <a:r>
              <a:rPr lang="en-US" dirty="0"/>
              <a:t>- Dr Fahad 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52BEDB-B863-A254-D76D-B88AB3E44E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3F33C-2D47-EE2D-5418-AA72B6086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return curve between PPO and SAC</a:t>
            </a:r>
          </a:p>
          <a:p>
            <a:r>
              <a:rPr lang="en-US" dirty="0"/>
              <a:t>Hyperparameter Optimization </a:t>
            </a:r>
          </a:p>
          <a:p>
            <a:r>
              <a:rPr lang="en-US" dirty="0"/>
              <a:t>Why are there sharp edges in the graph? Oh so that is action may be turn on and off ? </a:t>
            </a:r>
          </a:p>
          <a:p>
            <a:r>
              <a:rPr lang="en-US" dirty="0"/>
              <a:t>Baseline paper </a:t>
            </a:r>
          </a:p>
        </p:txBody>
      </p:sp>
    </p:spTree>
    <p:extLst>
      <p:ext uri="{BB962C8B-B14F-4D97-AF65-F5344CB8AC3E}">
        <p14:creationId xmlns:p14="http://schemas.microsoft.com/office/powerpoint/2010/main" val="3716241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F2B3-EF3F-CEE1-454C-18E75B15B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9941-272D-2127-38E9-DD96D57A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FeedBack</a:t>
            </a:r>
            <a:r>
              <a:rPr lang="en-US" dirty="0"/>
              <a:t>- Dr. Latif</a:t>
            </a: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763E71-CBD9-6C9C-3EDA-137625290D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1180F-52CD-66CB-A401-A4607AE0A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two different controllers on the same plot to see how other controllers are working and how my controller is working.</a:t>
            </a:r>
          </a:p>
          <a:p>
            <a:r>
              <a:rPr lang="en-US" dirty="0"/>
              <a:t>Develop a script to use different  values of hyper parameter to optimize </a:t>
            </a:r>
            <a:r>
              <a:rPr lang="en-US" dirty="0" err="1"/>
              <a:t>amd</a:t>
            </a:r>
            <a:r>
              <a:rPr lang="en-US" dirty="0"/>
              <a:t> find the best one </a:t>
            </a:r>
          </a:p>
          <a:p>
            <a:r>
              <a:rPr lang="en-US" dirty="0"/>
              <a:t>Compare with most recent approach which in my case is Reward function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1838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>
            <a:spLocks noGrp="1"/>
          </p:cNvSpPr>
          <p:nvPr>
            <p:ph type="ftr" idx="11"/>
          </p:nvPr>
        </p:nvSpPr>
        <p:spPr>
          <a:xfrm>
            <a:off x="3148444" y="6446836"/>
            <a:ext cx="63488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Intelligent Robotics Lab</a:t>
            </a:r>
            <a:endParaRPr/>
          </a:p>
        </p:txBody>
      </p: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10739910" y="645131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3882" y="1187306"/>
            <a:ext cx="5604235" cy="4483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500</Words>
  <Application>Microsoft Office PowerPoint</Application>
  <PresentationFormat>Widescreen</PresentationFormat>
  <Paragraphs>236</Paragraphs>
  <Slides>28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Retrospect</vt:lpstr>
      <vt:lpstr>RL Based Thermal Comfort Controller</vt:lpstr>
      <vt:lpstr>Feedback on Last Presentation</vt:lpstr>
      <vt:lpstr>Key Milestones Achieved </vt:lpstr>
      <vt:lpstr>Reward Function</vt:lpstr>
      <vt:lpstr>Reward Function latest literature</vt:lpstr>
      <vt:lpstr>Reward Function latest literature</vt:lpstr>
      <vt:lpstr>Paarameter optimization</vt:lpstr>
      <vt:lpstr>Paarameter optimization</vt:lpstr>
      <vt:lpstr>Paarameter optimization</vt:lpstr>
      <vt:lpstr>Paarameter optimization</vt:lpstr>
      <vt:lpstr>Ranking optimization</vt:lpstr>
      <vt:lpstr>Ranking optimization</vt:lpstr>
      <vt:lpstr>Observation Space </vt:lpstr>
      <vt:lpstr>Scenarios</vt:lpstr>
      <vt:lpstr>Baselines</vt:lpstr>
      <vt:lpstr>Training curve</vt:lpstr>
      <vt:lpstr>Training curve</vt:lpstr>
      <vt:lpstr>Results S1</vt:lpstr>
      <vt:lpstr>Results S1</vt:lpstr>
      <vt:lpstr>Results S1</vt:lpstr>
      <vt:lpstr>Results S2</vt:lpstr>
      <vt:lpstr>Results S2</vt:lpstr>
      <vt:lpstr>Results S2</vt:lpstr>
      <vt:lpstr>General</vt:lpstr>
      <vt:lpstr>Plan</vt:lpstr>
      <vt:lpstr>FeedBack- Dr Fahad </vt:lpstr>
      <vt:lpstr>FeedBack- Dr. Latif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Fahad</dc:creator>
  <cp:lastModifiedBy>Ali  Hassan  Bhatti</cp:lastModifiedBy>
  <cp:revision>8</cp:revision>
  <dcterms:created xsi:type="dcterms:W3CDTF">2021-09-12T15:06:32Z</dcterms:created>
  <dcterms:modified xsi:type="dcterms:W3CDTF">2025-09-25T11:52:50Z</dcterms:modified>
</cp:coreProperties>
</file>